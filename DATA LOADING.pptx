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63" autoAdjust="0"/>
    <p:restoredTop sz="94660"/>
  </p:normalViewPr>
  <p:slideViewPr>
    <p:cSldViewPr snapToGrid="0">
      <p:cViewPr>
        <p:scale>
          <a:sx n="75" d="100"/>
          <a:sy n="75" d="100"/>
        </p:scale>
        <p:origin x="792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DAF4-A5DD-FB51-886B-3E5D670B6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A4B5C-DEEE-858B-DE52-1D12BA4E7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42903-DC39-3487-674F-3EE27D95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4A4E-F9E3-95CC-8B10-35B41E4D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B4100-D6AD-2F20-7A13-FD199A9E7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4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2250-551A-37D4-A8D2-85C07933F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3AF25-BD29-F881-5AEB-D22A32DBA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D6295-B5B0-BCBA-B2A4-37B2E96B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7EB12-506E-287F-4D51-D1680B57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0D87D-AD56-300F-270A-BB852EE8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89BC-ED8A-652A-34A7-30EF2BA8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D4893-5E66-9406-321F-D34DD30FF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1AD89-BAA6-ABBA-F399-EE6B9B4C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62C76-9404-3554-C719-DC8FC0A9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9003-AF60-F8EC-A17E-3BC1909B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8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33C8-ECFF-0A84-6FA2-D39D4B73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3216E-BE76-3789-11B1-F30700FC5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F7A15D-E2D8-AD97-5D3A-6042E3DF1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783C7-3817-6474-B720-AD55A428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8E9F2-07B5-6ECC-DAEC-8F09C723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310-9488-4C5A-7092-F4030FC6C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29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876D-CB3F-E3D0-BC16-E5C260FC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D2510-FA37-45E9-EBCA-1A7FE2A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F4C0B-D6D4-FE5B-1E8D-D0F75CB7E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05E07-0ECE-EF0F-C373-E5D92CF82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94416-EC25-7E2F-89B1-5A1503DD7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7C54E-D6A8-1BD6-F2AC-EA538389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B20088-9915-210A-905B-345AF1CC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AF067-D978-8DF1-28A1-55D491D3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262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8BF3-CB3C-5FEC-454F-05A6A0CE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F1334E-AAB7-D457-FDFB-2852CDF9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E01CB-2DB1-5533-AFCA-3C2F81EE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8F372-CECE-11EA-67EB-0A2087DA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07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26D1C5-80EA-19F4-A1BB-9F9972C3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4F735-705A-8F67-C63A-55DB6621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8974A-3FC6-CEA2-9EDF-443BF314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92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99C30-9681-4453-07C7-ADCCDC15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4C66-3258-4164-441F-8CE9B971E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206B7-9942-0DE8-C470-9C90A782D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182CC-B54E-1CB7-AC3D-9EF94B34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60C89-B82B-744C-FD4B-FCA04D0FC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F8E8B-1D54-7211-9DBF-CA953DD4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36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1781A-043D-2B5E-8C54-E01027287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7020E-C629-1B9C-3647-279DD1619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7061C-D170-A353-511F-7C9FF11B8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5BF47-22A8-E961-EA8A-AAD334A6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AE3F7-2297-0080-C7BC-E9F1EE89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B88D4-DE9D-BF94-28C1-CD5AA117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88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49C81-5551-2102-D10E-F5F756537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A8527-24BE-62B1-5B8D-AB4669ACE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6EA2-DD87-C798-65F9-A5F77A1F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EF562-97B3-5BAE-2F44-9FB93F41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25D17-EA84-81F0-DF88-AC5656629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0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0BEFA-B51D-3CA3-558A-2AB45109D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71D50-A3B8-4DAA-4252-87CA047C5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ABDCE-80A2-3445-4D9E-93C94D61F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85661-6F4C-4465-8637-7E47B7A0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16836-9954-0C1D-BE5B-4B10A403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9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3B4072-0232-DE7C-D600-A5974A01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432B8-804D-1A63-9310-974D9FB3A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2490C-C91B-6703-C1C8-48454131A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76CC7-8CF8-4266-9FBC-D95742FB46B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68428-2A17-D310-89E8-8B06CE842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A614B-2ED7-BD0B-D6E4-B7546A63E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89D01-8B49-400F-9AC3-00194EEA60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90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DF03D-0836-4E15-A875-25ACE0FAB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Q1. Data Understanding Identify all data quality issues present in the dataset that can cause problems during data loading.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3F7DC-DB8A-9211-CBCE-E2D8D0AC4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586" y="1647168"/>
            <a:ext cx="10515600" cy="505843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sz="7200" b="1" dirty="0">
                <a:solidFill>
                  <a:srgbClr val="00B0F0"/>
                </a:solidFill>
              </a:rPr>
              <a:t> </a:t>
            </a: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Duplicate Records (1 issue)</a:t>
            </a:r>
          </a:p>
          <a:p>
            <a:r>
              <a:rPr lang="en-IN" sz="7200" dirty="0">
                <a:solidFill>
                  <a:srgbClr val="00B0F0"/>
                </a:solidFill>
              </a:rPr>
              <a:t>Row with </a:t>
            </a:r>
            <a:r>
              <a:rPr lang="en-IN" sz="7200" b="1" dirty="0">
                <a:solidFill>
                  <a:srgbClr val="00B0F0"/>
                </a:solidFill>
              </a:rPr>
              <a:t>O101, C001, 4500, 12-01-2024</a:t>
            </a:r>
            <a:r>
              <a:rPr lang="en-IN" sz="7200" dirty="0">
                <a:solidFill>
                  <a:srgbClr val="00B0F0"/>
                </a:solidFill>
              </a:rPr>
              <a:t> appears twice </a:t>
            </a:r>
          </a:p>
          <a:p>
            <a:pPr marL="0" indent="0">
              <a:buNone/>
            </a:pPr>
            <a:r>
              <a:rPr lang="en-IN" sz="7200" b="1" dirty="0">
                <a:solidFill>
                  <a:srgbClr val="00B0F0"/>
                </a:solidFill>
              </a:rPr>
              <a:t> </a:t>
            </a: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Missing / NULL Values (1 issue)</a:t>
            </a:r>
          </a:p>
          <a:p>
            <a:r>
              <a:rPr lang="en-IN" sz="7200" b="1" dirty="0" err="1">
                <a:solidFill>
                  <a:srgbClr val="00B0F0"/>
                </a:solidFill>
              </a:rPr>
              <a:t>Sales_Amount</a:t>
            </a:r>
            <a:r>
              <a:rPr lang="en-IN" sz="7200" b="1" dirty="0">
                <a:solidFill>
                  <a:srgbClr val="00B0F0"/>
                </a:solidFill>
              </a:rPr>
              <a:t> = NULL</a:t>
            </a:r>
            <a:r>
              <a:rPr lang="en-IN" sz="7200" dirty="0">
                <a:solidFill>
                  <a:srgbClr val="00B0F0"/>
                </a:solidFill>
              </a:rPr>
              <a:t> in </a:t>
            </a:r>
            <a:r>
              <a:rPr lang="en-IN" sz="7200" dirty="0" err="1">
                <a:solidFill>
                  <a:srgbClr val="00B0F0"/>
                </a:solidFill>
              </a:rPr>
              <a:t>Order_ID</a:t>
            </a:r>
            <a:r>
              <a:rPr lang="en-IN" sz="7200" dirty="0">
                <a:solidFill>
                  <a:srgbClr val="00B0F0"/>
                </a:solidFill>
              </a:rPr>
              <a:t> </a:t>
            </a:r>
            <a:r>
              <a:rPr lang="en-IN" sz="7200" b="1" dirty="0">
                <a:solidFill>
                  <a:srgbClr val="00B0F0"/>
                </a:solidFill>
              </a:rPr>
              <a:t>O102</a:t>
            </a:r>
            <a:r>
              <a:rPr lang="en-IN" sz="7200" dirty="0">
                <a:solidFill>
                  <a:srgbClr val="00B0F0"/>
                </a:solidFill>
              </a:rPr>
              <a:t> </a:t>
            </a:r>
          </a:p>
          <a:p>
            <a:pPr marL="0" indent="0">
              <a:buNone/>
            </a:pPr>
            <a:r>
              <a:rPr lang="en-IN" sz="7200" b="1" dirty="0">
                <a:solidFill>
                  <a:srgbClr val="00B0F0"/>
                </a:solidFill>
              </a:rPr>
              <a:t> </a:t>
            </a: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Invalid Data Type (1 issue)</a:t>
            </a:r>
          </a:p>
          <a:p>
            <a:r>
              <a:rPr lang="en-IN" sz="7200" b="1" dirty="0">
                <a:solidFill>
                  <a:srgbClr val="00B0F0"/>
                </a:solidFill>
              </a:rPr>
              <a:t>"Three Thousand"</a:t>
            </a:r>
            <a:r>
              <a:rPr lang="en-IN" sz="7200" dirty="0">
                <a:solidFill>
                  <a:srgbClr val="00B0F0"/>
                </a:solidFill>
              </a:rPr>
              <a:t> (text instead of number) </a:t>
            </a:r>
            <a:br>
              <a:rPr lang="en-IN" sz="7200" dirty="0">
                <a:solidFill>
                  <a:srgbClr val="00B0F0"/>
                </a:solidFill>
              </a:rPr>
            </a:br>
            <a:endParaRPr lang="en-IN" sz="72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Inconsistent Date Format (1 issue)</a:t>
            </a:r>
          </a:p>
          <a:p>
            <a:r>
              <a:rPr lang="en-IN" sz="7200" dirty="0">
                <a:solidFill>
                  <a:srgbClr val="00B0F0"/>
                </a:solidFill>
              </a:rPr>
              <a:t>Mixed formats: </a:t>
            </a:r>
          </a:p>
          <a:p>
            <a:pPr lvl="1"/>
            <a:r>
              <a:rPr lang="en-IN" sz="7200" dirty="0">
                <a:solidFill>
                  <a:srgbClr val="00B0F0"/>
                </a:solidFill>
              </a:rPr>
              <a:t>12-01-2024 (DD-MM-YYYY) </a:t>
            </a:r>
          </a:p>
          <a:p>
            <a:pPr lvl="1"/>
            <a:r>
              <a:rPr lang="en-IN" sz="7200" dirty="0">
                <a:solidFill>
                  <a:srgbClr val="00B0F0"/>
                </a:solidFill>
              </a:rPr>
              <a:t>2024/01/18 (YYYY/MM/DD) </a:t>
            </a:r>
          </a:p>
          <a:p>
            <a:pPr marL="0" indent="0">
              <a:buNone/>
            </a:pP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5. Data Standardization Issue (1 issue</a:t>
            </a:r>
            <a:r>
              <a:rPr lang="en-IN" sz="7200" b="1" dirty="0">
                <a:solidFill>
                  <a:srgbClr val="00B0F0"/>
                </a:solidFill>
              </a:rPr>
              <a:t>)</a:t>
            </a:r>
          </a:p>
          <a:p>
            <a:r>
              <a:rPr lang="en-IN" sz="7200" dirty="0" err="1">
                <a:solidFill>
                  <a:srgbClr val="00B0F0"/>
                </a:solidFill>
              </a:rPr>
              <a:t>Sales_Amount</a:t>
            </a:r>
            <a:r>
              <a:rPr lang="en-IN" sz="7200" dirty="0">
                <a:solidFill>
                  <a:srgbClr val="00B0F0"/>
                </a:solidFill>
              </a:rPr>
              <a:t> stored as: </a:t>
            </a:r>
          </a:p>
          <a:p>
            <a:pPr lvl="1"/>
            <a:r>
              <a:rPr lang="en-IN" sz="7200" dirty="0">
                <a:solidFill>
                  <a:srgbClr val="00B0F0"/>
                </a:solidFill>
              </a:rPr>
              <a:t>Numbers (4500, 3200, 5100) </a:t>
            </a:r>
          </a:p>
          <a:p>
            <a:pPr lvl="1"/>
            <a:r>
              <a:rPr lang="en-IN" sz="7200" dirty="0">
                <a:solidFill>
                  <a:srgbClr val="00B0F0"/>
                </a:solidFill>
              </a:rPr>
              <a:t>Text ("Three Thousand") </a:t>
            </a:r>
          </a:p>
          <a:p>
            <a:pPr lvl="1"/>
            <a:r>
              <a:rPr lang="en-IN" sz="7200" dirty="0">
                <a:solidFill>
                  <a:srgbClr val="00B0F0"/>
                </a:solidFill>
              </a:rPr>
              <a:t>NULL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74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C0A3-0F2F-9F41-36C9-EA93A5457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70" y="670560"/>
            <a:ext cx="10515600" cy="1920875"/>
          </a:xfrm>
        </p:spPr>
        <p:txBody>
          <a:bodyPr>
            <a:normAutofit fontScale="90000"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Gill Sans MT" panose="020B0502020104020203" pitchFamily="34" charset="0"/>
              </a:rPr>
              <a:t>Q6. Load Readiness Decision Based on the dataset condition: </a:t>
            </a:r>
            <a:br>
              <a:rPr lang="en-US" sz="2800" b="1" dirty="0">
                <a:latin typeface="Gill Sans MT" panose="020B0502020104020203" pitchFamily="34" charset="0"/>
              </a:rPr>
            </a:br>
            <a:r>
              <a:rPr lang="en-US" sz="2800" b="1" dirty="0">
                <a:latin typeface="Gill Sans MT" panose="020B0502020104020203" pitchFamily="34" charset="0"/>
              </a:rPr>
              <a:t>a) Should this dataset be loaded directly into the database? (Yes/No)  </a:t>
            </a:r>
            <a:br>
              <a:rPr lang="en-US" sz="2800" b="1" dirty="0">
                <a:latin typeface="Gill Sans MT" panose="020B0502020104020203" pitchFamily="34" charset="0"/>
              </a:rPr>
            </a:br>
            <a:r>
              <a:rPr lang="en-US" sz="2800" b="1" dirty="0">
                <a:latin typeface="Gill Sans MT" panose="020B0502020104020203" pitchFamily="34" charset="0"/>
              </a:rPr>
              <a:t>b) Justify your answer with at least three reasons</a:t>
            </a:r>
            <a:endParaRPr lang="en-IN" sz="2800" b="1" dirty="0">
              <a:latin typeface="Gill Sans MT" panose="020B05020201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A2CF5-6AEF-CD3E-DDF4-00B509FB7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770" y="3156903"/>
            <a:ext cx="10515600" cy="303053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Ans : </a:t>
            </a:r>
            <a:r>
              <a:rPr lang="en-IN" dirty="0">
                <a:solidFill>
                  <a:srgbClr val="0070C0"/>
                </a:solidFill>
              </a:rPr>
              <a:t>NO.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>
                <a:solidFill>
                  <a:schemeClr val="tx1"/>
                </a:solidFill>
              </a:rPr>
              <a:t>ANS</a:t>
            </a:r>
            <a:r>
              <a:rPr lang="en-IN" dirty="0">
                <a:solidFill>
                  <a:srgbClr val="0070C0"/>
                </a:solidFill>
              </a:rPr>
              <a:t> B: </a:t>
            </a:r>
            <a:r>
              <a:rPr lang="en-US" altLang="en-US" b="1" i="1" u="sng" dirty="0">
                <a:solidFill>
                  <a:srgbClr val="0070C0"/>
                </a:solidFill>
                <a:latin typeface="Arial" panose="020B0604020202020204" pitchFamily="34" charset="0"/>
              </a:rPr>
              <a:t>Duplicate records</a:t>
            </a:r>
            <a:r>
              <a:rPr lang="en-US" altLang="en-US" i="1" u="sng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→ violates Primary Key (O101)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i="1" u="sng" dirty="0">
                <a:solidFill>
                  <a:srgbClr val="0070C0"/>
                </a:solidFill>
                <a:latin typeface="Arial" panose="020B0604020202020204" pitchFamily="34" charset="0"/>
              </a:rPr>
              <a:t>Missing value</a:t>
            </a:r>
            <a:r>
              <a:rPr lang="en-US" altLang="en-US" i="1" u="sng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→ NULL in </a:t>
            </a:r>
            <a:r>
              <a:rPr lang="en-US" altLang="en-US" dirty="0" err="1">
                <a:solidFill>
                  <a:srgbClr val="0070C0"/>
                </a:solidFill>
                <a:latin typeface="Arial" panose="020B0604020202020204" pitchFamily="34" charset="0"/>
              </a:rPr>
              <a:t>Sales_Amount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i="1" u="sng" dirty="0">
                <a:solidFill>
                  <a:srgbClr val="0070C0"/>
                </a:solidFill>
                <a:latin typeface="Arial" panose="020B0604020202020204" pitchFamily="34" charset="0"/>
              </a:rPr>
              <a:t>Invalid data type</a:t>
            </a:r>
            <a:r>
              <a:rPr lang="en-US" altLang="en-US" i="1" u="sng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→ "Three Thousand" (text in numeric field)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i="1" u="sng" dirty="0">
                <a:solidFill>
                  <a:srgbClr val="0070C0"/>
                </a:solidFill>
                <a:latin typeface="Arial" panose="020B0604020202020204" pitchFamily="34" charset="0"/>
              </a:rPr>
              <a:t>Inconsistent date format</a:t>
            </a:r>
            <a:r>
              <a:rPr lang="en-US" altLang="en-US" i="1" u="sng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→ DD-MM-YYYY &amp; YYYY/MM/DD </a:t>
            </a:r>
          </a:p>
          <a:p>
            <a:br>
              <a:rPr lang="en-IN" dirty="0">
                <a:solidFill>
                  <a:srgbClr val="0070C0"/>
                </a:solidFill>
              </a:rPr>
            </a:b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24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FA72-E237-BB18-F66A-2F8706BF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Q7. Pre-Load Validation Checklist List the exact pre-load validation checks you would perform on this dataset before loading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1FDF4-380A-6B52-61DE-9D9344291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ANS : Pre-load validation checks:</a:t>
            </a:r>
          </a:p>
          <a:p>
            <a:r>
              <a:rPr lang="en-IN" dirty="0">
                <a:solidFill>
                  <a:srgbClr val="0070C0"/>
                </a:solidFill>
              </a:rPr>
              <a:t>Duplicate check (Primary Key validation) </a:t>
            </a:r>
          </a:p>
          <a:p>
            <a:r>
              <a:rPr lang="en-IN" dirty="0">
                <a:solidFill>
                  <a:srgbClr val="0070C0"/>
                </a:solidFill>
              </a:rPr>
              <a:t>Missing value check </a:t>
            </a:r>
          </a:p>
          <a:p>
            <a:r>
              <a:rPr lang="en-IN" dirty="0">
                <a:solidFill>
                  <a:srgbClr val="0070C0"/>
                </a:solidFill>
              </a:rPr>
              <a:t>Numeric data validation </a:t>
            </a:r>
          </a:p>
          <a:p>
            <a:r>
              <a:rPr lang="en-IN" dirty="0">
                <a:solidFill>
                  <a:srgbClr val="0070C0"/>
                </a:solidFill>
              </a:rPr>
              <a:t>Date format validation </a:t>
            </a:r>
          </a:p>
          <a:p>
            <a:r>
              <a:rPr lang="en-IN" dirty="0">
                <a:solidFill>
                  <a:srgbClr val="0070C0"/>
                </a:solidFill>
              </a:rPr>
              <a:t>Data type consistency check </a:t>
            </a:r>
          </a:p>
          <a:p>
            <a:r>
              <a:rPr lang="en-IN" dirty="0">
                <a:solidFill>
                  <a:srgbClr val="0070C0"/>
                </a:solidFill>
              </a:rPr>
              <a:t>Date standardization check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736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19A3-D103-A59B-D178-86AB0B41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Q8. Cleaning Strategy Describe the step-by-step cleaning actions required to make this dataset load-ready.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E9DEF-F999-A3D2-6BF1-E16E2731C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ANS : Steps: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Remove duplicate records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Handle missing values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Correct invalid data types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Convert column data types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Standardize date format </a:t>
            </a:r>
          </a:p>
          <a:p>
            <a:r>
              <a:rPr lang="en-IN" b="1" dirty="0">
                <a:solidFill>
                  <a:srgbClr val="0070C0"/>
                </a:solidFill>
                <a:latin typeface="Gill Sans MT" panose="020B0502020104020203" pitchFamily="34" charset="0"/>
              </a:rPr>
              <a:t>Apply constraints (PK, NOT NULL)</a:t>
            </a:r>
          </a:p>
          <a:p>
            <a:endParaRPr lang="en-IN" b="1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2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6567A-A5DF-C811-4FCA-5FF8D8E57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Q9. Loading Strategy Selection Assume this dataset represents daily sales data. </a:t>
            </a:r>
            <a:br>
              <a:rPr lang="en-US" sz="2400" b="1" dirty="0"/>
            </a:br>
            <a:r>
              <a:rPr lang="en-US" sz="2400" b="1" dirty="0"/>
              <a:t>a) Should a Full Load or Incremental Load be used?  </a:t>
            </a:r>
            <a:br>
              <a:rPr lang="en-US" sz="2400" b="1" dirty="0"/>
            </a:br>
            <a:r>
              <a:rPr lang="en-US" sz="2400" b="1" dirty="0"/>
              <a:t>b) Justify your choice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A7765-B942-7742-D396-3E94F48CB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</a:rPr>
              <a:t>ANS : </a:t>
            </a:r>
            <a:r>
              <a:rPr lang="en-IN" b="1" dirty="0">
                <a:solidFill>
                  <a:srgbClr val="0070C0"/>
                </a:solidFill>
              </a:rPr>
              <a:t>a) Loading Type</a:t>
            </a:r>
          </a:p>
          <a:p>
            <a:r>
              <a:rPr lang="en-IN" b="1" dirty="0">
                <a:solidFill>
                  <a:srgbClr val="0070C0"/>
                </a:solidFill>
              </a:rPr>
              <a:t>Incremental Load</a:t>
            </a:r>
            <a:endParaRPr lang="en-IN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</a:rPr>
              <a:t>b) Justification</a:t>
            </a:r>
          </a:p>
          <a:p>
            <a:r>
              <a:rPr lang="en-IN" b="1" dirty="0">
                <a:solidFill>
                  <a:srgbClr val="0070C0"/>
                </a:solidFill>
              </a:rPr>
              <a:t>Daily data updates</a:t>
            </a:r>
            <a:r>
              <a:rPr lang="en-IN" dirty="0">
                <a:solidFill>
                  <a:srgbClr val="0070C0"/>
                </a:solidFill>
              </a:rPr>
              <a:t> → only new records come each day </a:t>
            </a:r>
          </a:p>
          <a:p>
            <a:r>
              <a:rPr lang="en-IN" b="1" dirty="0">
                <a:solidFill>
                  <a:srgbClr val="0070C0"/>
                </a:solidFill>
              </a:rPr>
              <a:t>Faster processing</a:t>
            </a:r>
            <a:r>
              <a:rPr lang="en-IN" dirty="0">
                <a:solidFill>
                  <a:srgbClr val="0070C0"/>
                </a:solidFill>
              </a:rPr>
              <a:t> → avoids reloading entire dataset </a:t>
            </a:r>
          </a:p>
          <a:p>
            <a:r>
              <a:rPr lang="en-IN" b="1" dirty="0">
                <a:solidFill>
                  <a:srgbClr val="0070C0"/>
                </a:solidFill>
              </a:rPr>
              <a:t>Efficient performance</a:t>
            </a:r>
            <a:r>
              <a:rPr lang="en-IN" dirty="0">
                <a:solidFill>
                  <a:srgbClr val="0070C0"/>
                </a:solidFill>
              </a:rPr>
              <a:t> → less time &amp; resources </a:t>
            </a:r>
          </a:p>
          <a:p>
            <a:r>
              <a:rPr lang="en-IN" b="1" dirty="0">
                <a:solidFill>
                  <a:srgbClr val="0070C0"/>
                </a:solidFill>
              </a:rPr>
              <a:t>Prevents duplication</a:t>
            </a:r>
            <a:r>
              <a:rPr lang="en-IN" dirty="0">
                <a:solidFill>
                  <a:srgbClr val="0070C0"/>
                </a:solidFill>
              </a:rPr>
              <a:t> → loads only new/changed data </a:t>
            </a:r>
          </a:p>
          <a:p>
            <a:r>
              <a:rPr lang="en-IN" b="1" dirty="0">
                <a:solidFill>
                  <a:srgbClr val="0070C0"/>
                </a:solidFill>
              </a:rPr>
              <a:t>Scalable</a:t>
            </a:r>
            <a:r>
              <a:rPr lang="en-IN" dirty="0">
                <a:solidFill>
                  <a:srgbClr val="0070C0"/>
                </a:solidFill>
              </a:rPr>
              <a:t> → suitable for growing datasets 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87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11B2-4088-BD62-30F0-8DECE93A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Gill Sans MT" panose="020B0502020104020203" pitchFamily="34" charset="0"/>
              </a:rPr>
              <a:t>Q10. BI Impact Scenario Assume this dataset was loaded without cleaning and connected to a BI dashboard.</a:t>
            </a:r>
            <a:br>
              <a:rPr lang="en-US" sz="2000" dirty="0">
                <a:latin typeface="Gill Sans MT" panose="020B0502020104020203" pitchFamily="34" charset="0"/>
              </a:rPr>
            </a:br>
            <a:r>
              <a:rPr lang="en-US" sz="2000" dirty="0">
                <a:latin typeface="Gill Sans MT" panose="020B0502020104020203" pitchFamily="34" charset="0"/>
              </a:rPr>
              <a:t> a) What incorrect results might appear in Total Sales KPI? </a:t>
            </a:r>
            <a:br>
              <a:rPr lang="en-US" sz="2000" dirty="0">
                <a:latin typeface="Gill Sans MT" panose="020B0502020104020203" pitchFamily="34" charset="0"/>
              </a:rPr>
            </a:br>
            <a:r>
              <a:rPr lang="en-US" sz="2000" dirty="0">
                <a:latin typeface="Gill Sans MT" panose="020B0502020104020203" pitchFamily="34" charset="0"/>
              </a:rPr>
              <a:t> b) Which records specifically would cause misleading insights? </a:t>
            </a:r>
            <a:br>
              <a:rPr lang="en-US" sz="2000" dirty="0">
                <a:latin typeface="Gill Sans MT" panose="020B0502020104020203" pitchFamily="34" charset="0"/>
              </a:rPr>
            </a:br>
            <a:r>
              <a:rPr lang="en-US" sz="2000" dirty="0">
                <a:latin typeface="Gill Sans MT" panose="020B0502020104020203" pitchFamily="34" charset="0"/>
              </a:rPr>
              <a:t> c) Why would BI tools not detect these issues automatically?</a:t>
            </a:r>
            <a:endParaRPr lang="en-IN" sz="2000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39E9-5889-BCAA-00F3-69DFE9B3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  <a:latin typeface="Gill Sans MT" panose="020B0502020104020203" pitchFamily="34" charset="0"/>
              </a:rPr>
              <a:t>ANS :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a)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Total Sales KPI will be incorrect due to double counting, missing values, and invalid data.</a:t>
            </a: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b)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Problematic records: </a:t>
            </a:r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O101, O102, O104</a:t>
            </a:r>
            <a:endParaRPr lang="en-US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Gill Sans MT" panose="020B0502020104020203" pitchFamily="34" charset="0"/>
              </a:rPr>
              <a:t>c)</a:t>
            </a:r>
            <a:r>
              <a:rPr lang="en-US" dirty="0">
                <a:solidFill>
                  <a:srgbClr val="0070C0"/>
                </a:solidFill>
                <a:latin typeface="Gill Sans MT" panose="020B0502020104020203" pitchFamily="34" charset="0"/>
              </a:rPr>
              <a:t> BI tools do not automatically detect data quality issues and simply process available data, leading to misleading results.</a:t>
            </a:r>
          </a:p>
          <a:p>
            <a:endParaRPr lang="en-IN" dirty="0">
              <a:solidFill>
                <a:srgbClr val="0070C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75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516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Gill Sans MT</vt:lpstr>
      <vt:lpstr>Office Theme</vt:lpstr>
      <vt:lpstr>Q1. Data Understanding Identify all data quality issues present in the dataset that can cause problems during data loading.</vt:lpstr>
      <vt:lpstr>Q6. Load Readiness Decision Based on the dataset condition:  a) Should this dataset be loaded directly into the database? (Yes/No)   b) Justify your answer with at least three reasons</vt:lpstr>
      <vt:lpstr>Q7. Pre-Load Validation Checklist List the exact pre-load validation checks you would perform on this dataset before loading</vt:lpstr>
      <vt:lpstr>Q8. Cleaning Strategy Describe the step-by-step cleaning actions required to make this dataset load-ready.</vt:lpstr>
      <vt:lpstr>Q9. Loading Strategy Selection Assume this dataset represents daily sales data.  a) Should a Full Load or Incremental Load be used?   b) Justify your choice</vt:lpstr>
      <vt:lpstr>Q10. BI Impact Scenario Assume this dataset was loaded without cleaning and connected to a BI dashboard.  a) What incorrect results might appear in Total Sales KPI?   b) Which records specifically would cause misleading insights?   c) Why would BI tools not detect these issues automatically?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 maretha</dc:creator>
  <cp:lastModifiedBy>lakshay maretha</cp:lastModifiedBy>
  <cp:revision>1</cp:revision>
  <dcterms:created xsi:type="dcterms:W3CDTF">2026-03-24T11:57:28Z</dcterms:created>
  <dcterms:modified xsi:type="dcterms:W3CDTF">2026-03-24T12:51:50Z</dcterms:modified>
</cp:coreProperties>
</file>